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Overview of Concepts, Types, and Applications</a:t>
            </a:r>
          </a:p>
          <a:p>
            <a: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Machine Learning (ML) is a subset of Artificial Intelligence (AI).</a:t>
            </a:r>
          </a:p>
          <a:p>
            <a:pPr>
              <a:defRPr sz="1800"/>
            </a:pPr>
            <a:r>
              <a:t>It enables computers to learn from data without being explicitly programmed.</a:t>
            </a:r>
          </a:p>
          <a:p>
            <a:pPr>
              <a:defRPr sz="1800"/>
            </a:pPr>
            <a:r>
              <a:t>Traditional Programming: Rules + Data = Answers</a:t>
            </a:r>
          </a:p>
          <a:p>
            <a:pPr>
              <a:defRPr sz="1800"/>
            </a:pPr>
            <a:r>
              <a:t>Machine Learning: Data + Answers = Rules (Models)</a:t>
            </a:r>
          </a:p>
          <a:p>
            <a:pPr>
              <a:defRPr sz="1800"/>
            </a:pPr>
            <a:r>
              <a:t>Key Goal: Generalize from examples to handle new, unseen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Machine Learning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Data Collection: Gathering raw data (images, text, numbers).</a:t>
            </a:r>
          </a:p>
          <a:p>
            <a:pPr>
              <a:defRPr sz="1800"/>
            </a:pPr>
            <a:r>
              <a:t>2. Data Preparation: Cleaning and formatting the data.</a:t>
            </a:r>
          </a:p>
          <a:p>
            <a:pPr>
              <a:defRPr sz="1800"/>
            </a:pPr>
            <a:r>
              <a:t>3. Training: The algorithm finds patterns in the training data.</a:t>
            </a:r>
          </a:p>
          <a:p>
            <a:pPr>
              <a:defRPr sz="1800"/>
            </a:pPr>
            <a:r>
              <a:t>4. Evaluation: Testing the model with new data to check accuracy.</a:t>
            </a:r>
          </a:p>
          <a:p>
            <a:pPr>
              <a:defRPr sz="1800"/>
            </a:pPr>
            <a:r>
              <a:t>5. Deployment: Using the model to make predictions in the real world.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Supervised Learning</a:t>
            </a:r>
          </a:p>
          <a:p>
            <a:pPr lvl="1">
              <a:defRPr sz="1800"/>
            </a:pPr>
            <a:r>
              <a:t>Uses labeled data (Input + Correct Output).</a:t>
            </a:r>
          </a:p>
          <a:p>
            <a:pPr lvl="1">
              <a:defRPr sz="1800"/>
            </a:pPr>
            <a:r>
              <a:t>Task: Map input to output (e.g., Spam Classification).</a:t>
            </a:r>
          </a:p>
          <a:p>
            <a:pPr>
              <a:defRPr sz="1800"/>
            </a:pPr>
            <a:r>
              <a:t>Unsupervised Learning</a:t>
            </a:r>
          </a:p>
          <a:p>
            <a:pPr lvl="1">
              <a:defRPr sz="1800"/>
            </a:pPr>
            <a:r>
              <a:t>Uses unlabeled data (Input only).</a:t>
            </a:r>
          </a:p>
          <a:p>
            <a:pPr lvl="1">
              <a:defRPr sz="1800"/>
            </a:pPr>
            <a:r>
              <a:t>Task: Find hidden structures (e.g., Customer Segmentation).</a:t>
            </a:r>
          </a:p>
          <a:p>
            <a:pPr>
              <a:defRPr sz="1800"/>
            </a:pPr>
            <a:r>
              <a:t>Reinforcement Learning</a:t>
            </a:r>
          </a:p>
          <a:p>
            <a:pPr lvl="1">
              <a:defRPr sz="1800"/>
            </a:pPr>
            <a:r>
              <a:t>Agent learns by interacting with an environment.</a:t>
            </a:r>
          </a:p>
          <a:p>
            <a:pPr lvl="1">
              <a:defRPr sz="1800"/>
            </a:pPr>
            <a:r>
              <a:t>Task: Maximize rewards (e.g., Chess, Robot Navigation).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Supervised:</a:t>
            </a:r>
          </a:p>
          <a:p>
            <a:pPr lvl="1">
              <a:defRPr sz="1800"/>
            </a:pPr>
            <a:r>
              <a:t>Linear Regression (Predicting values)</a:t>
            </a:r>
          </a:p>
          <a:p>
            <a:pPr lvl="1">
              <a:defRPr sz="1800"/>
            </a:pPr>
            <a:r>
              <a:t>Logistic Regression (Classification)</a:t>
            </a:r>
          </a:p>
          <a:p>
            <a:pPr lvl="1">
              <a:defRPr sz="1800"/>
            </a:pPr>
            <a:r>
              <a:t>Decision Trees &amp; Random Forests</a:t>
            </a:r>
          </a:p>
          <a:p>
            <a:pPr lvl="1">
              <a:defRPr sz="1800"/>
            </a:pPr>
            <a:r>
              <a:t>Neural Networks (Deep Learning)</a:t>
            </a:r>
          </a:p>
          <a:p>
            <a:pPr>
              <a:defRPr sz="1800"/>
            </a:pPr>
            <a:r>
              <a:t>Unsupervised:</a:t>
            </a:r>
          </a:p>
          <a:p>
            <a:pPr lvl="1">
              <a:defRPr sz="1800"/>
            </a:pPr>
            <a:r>
              <a:t>KMeans Clustering</a:t>
            </a:r>
          </a:p>
          <a:p>
            <a:pPr lvl="1">
              <a:defRPr sz="1800"/>
            </a:pPr>
            <a:r>
              <a:t>Principal Component Analysis (PCA)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Healthcare: Early disease detection, personalized treatment.</a:t>
            </a:r>
          </a:p>
          <a:p>
            <a:pPr>
              <a:defRPr sz="1800"/>
            </a:pPr>
            <a:r>
              <a:t>Finance: Fraud detection, credit scoring, algorithmic trading.</a:t>
            </a:r>
          </a:p>
          <a:p>
            <a:pPr>
              <a:defRPr sz="1800"/>
            </a:pPr>
            <a:r>
              <a:t>Retail: Product recommendations (Netflix, Amazon), inventory prediction.</a:t>
            </a:r>
          </a:p>
          <a:p>
            <a:pPr>
              <a:defRPr sz="1800"/>
            </a:pPr>
            <a:r>
              <a:t>Transportation: Self-driving cars, route optimization (Google Maps).</a:t>
            </a:r>
          </a:p>
          <a:p>
            <a:pPr>
              <a:defRPr sz="1800"/>
            </a:pPr>
            <a:r>
              <a:t>NLP: Language translation, chatbots (like this one!), sentiment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 Quality: 'Garbage in, garbage out'.</a:t>
            </a:r>
          </a:p>
          <a:p>
            <a:pPr>
              <a:defRPr sz="1800"/>
            </a:pPr>
            <a:r>
              <a:t>Bias &amp; Ethics: Models can inherit biases from training data.</a:t>
            </a:r>
          </a:p>
          <a:p>
            <a:pPr>
              <a:defRPr sz="1800"/>
            </a:pPr>
            <a:r>
              <a:t>Interpretability: Complex models (like Deep Learning) can be 'black boxes'.</a:t>
            </a:r>
          </a:p>
          <a:p>
            <a:pPr>
              <a:defRPr sz="1800"/>
            </a:pPr>
            <a:r>
              <a:t>Future Trends: Generative AI, Edge AI (running on devices), Auto-ML.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ML is shifting how we solve problems from coding rules to teaching with data.</a:t>
            </a:r>
          </a:p>
          <a:p>
            <a:pPr>
              <a:defRPr sz="1800"/>
            </a:pPr>
            <a:r>
              <a:t>It is already integrated into daily life (Search, Social Media, Voice Assistants).</a:t>
            </a:r>
          </a:p>
          <a:p>
            <a:pPr>
              <a:defRPr sz="1800"/>
            </a:pPr>
            <a:r>
              <a:t>Success depends on high-quality data and choosing the right algorithm.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